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CFB813-BDC9-4955-AA82-A2C78DB2C2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4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0A898BF-1834-4C68-8823-E39B3A77AC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7E35BBD-BFA9-4DFC-8609-0FF8EB6154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9B29C3C-EA89-4822-A9AC-119BAC55B1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D6919C1-04F3-4F9F-BA4D-83EF34EF32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8CFDBB6-3A7F-4F60-8775-4A76EEB034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F354ADC-F207-4852-863C-FB752CFB04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DB962B-BBC2-4A75-8FDD-A1D0395A4C8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0FB3021-601B-4B64-9724-99C675301B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del texto de título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5484152-0E8C-43A1-8941-7F88D57AB2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CEF3634-F44E-4B72-86A5-9E574394C6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914400" y="1371600"/>
            <a:ext cx="10058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Agentes Locales con</a:t>
            </a:r>
            <a:br>
              <a:rPr sz="4400"/>
            </a:b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Ollama y LangChain</a:t>
            </a:r>
            <a:endParaRPr lang="es-E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914400" y="292608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bbccdd"/>
                </a:solidFill>
                <a:effectLst/>
                <a:uFillTx/>
                <a:latin typeface="Calibri"/>
              </a:rPr>
              <a:t>Taller practico: construye agentes de IA que corren 100% en tu maquina</a:t>
            </a:r>
            <a:endParaRPr lang="es-E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Rounded Rectangle 3"/>
          <p:cNvSpPr/>
          <p:nvPr/>
        </p:nvSpPr>
        <p:spPr>
          <a:xfrm>
            <a:off x="5029200" y="3840480"/>
            <a:ext cx="2102760" cy="41112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5029200" y="3867840"/>
            <a:ext cx="2102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Taller Practico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914400" y="502920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8899aa"/>
                </a:solidFill>
                <a:effectLst/>
                <a:uFillTx/>
                <a:latin typeface="Calibri"/>
              </a:rPr>
              <a:t>UBPD — 2026</a:t>
            </a:r>
            <a:endParaRPr lang="es-E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ounded Rectangle 1"/>
          <p:cNvSpPr/>
          <p:nvPr/>
        </p:nvSpPr>
        <p:spPr>
          <a:xfrm>
            <a:off x="0" y="0"/>
            <a:ext cx="12191400" cy="100548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548640" y="13716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¿Por que modelos locales?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"/>
          <p:cNvSpPr/>
          <p:nvPr/>
        </p:nvSpPr>
        <p:spPr>
          <a:xfrm>
            <a:off x="548640" y="548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bbccdd"/>
                </a:solidFill>
                <a:effectLst/>
                <a:uFillTx/>
                <a:latin typeface="Calibri"/>
              </a:rPr>
              <a:t>Privacidad, costo y control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4"/>
          <p:cNvSpPr/>
          <p:nvPr/>
        </p:nvSpPr>
        <p:spPr>
          <a:xfrm>
            <a:off x="10789920" y="64008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99aa"/>
                </a:solidFill>
                <a:effectLst/>
                <a:uFillTx/>
                <a:latin typeface="Calibri"/>
              </a:rPr>
              <a:t>2 / 12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ounded Rectangle 5"/>
          <p:cNvSpPr/>
          <p:nvPr/>
        </p:nvSpPr>
        <p:spPr>
          <a:xfrm>
            <a:off x="548640" y="1371600"/>
            <a:ext cx="5303160" cy="3200040"/>
          </a:xfrm>
          <a:prstGeom prst="roundRect">
            <a:avLst>
              <a:gd name="adj" fmla="val 16667"/>
            </a:avLst>
          </a:prstGeom>
          <a:solidFill>
            <a:srgbClr val="fef5f5"/>
          </a:solidFill>
          <a:ln w="2540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6"/>
          <p:cNvSpPr/>
          <p:nvPr/>
        </p:nvSpPr>
        <p:spPr>
          <a:xfrm>
            <a:off x="731520" y="146304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APIs en la Nube (ChatGPT, Claude...)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7"/>
          <p:cNvSpPr/>
          <p:nvPr/>
        </p:nvSpPr>
        <p:spPr>
          <a:xfrm>
            <a:off x="731520" y="1828800"/>
            <a:ext cx="493740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Los datos viajan a servidores externos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Costo por cada token procesado ($$$)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Requiere conexion a internet permanente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Sujeto a politicas de uso de terceros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Latencia variable segun el servidor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8"/>
          <p:cNvSpPr/>
          <p:nvPr/>
        </p:nvSpPr>
        <p:spPr>
          <a:xfrm>
            <a:off x="6217920" y="1371600"/>
            <a:ext cx="5303160" cy="3200040"/>
          </a:xfrm>
          <a:prstGeom prst="roundRect">
            <a:avLst>
              <a:gd name="adj" fmla="val 16667"/>
            </a:avLst>
          </a:prstGeom>
          <a:solidFill>
            <a:srgbClr val="f0fdf4"/>
          </a:solidFill>
          <a:ln w="25400">
            <a:solidFill>
              <a:srgbClr val="27ae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9"/>
          <p:cNvSpPr/>
          <p:nvPr/>
        </p:nvSpPr>
        <p:spPr>
          <a:xfrm>
            <a:off x="6400800" y="146304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7ae60"/>
                </a:solidFill>
                <a:effectLst/>
                <a:uFillTx/>
                <a:latin typeface="Calibri"/>
              </a:rPr>
              <a:t>Modelos Locales (Ollama)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6400800" y="1828800"/>
            <a:ext cx="493740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Los datos NUNCA salen de tu maquina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Gratis: sin costos recurrentes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Funciona completamente offline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Control total sobre modelo y parametros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Latencia consistente y predecible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Rounded Rectangle 11"/>
          <p:cNvSpPr/>
          <p:nvPr/>
        </p:nvSpPr>
        <p:spPr>
          <a:xfrm>
            <a:off x="548640" y="4937760"/>
            <a:ext cx="10972440" cy="1096920"/>
          </a:xfrm>
          <a:prstGeom prst="roundRect">
            <a:avLst>
              <a:gd name="adj" fmla="val 16667"/>
            </a:avLst>
          </a:prstGeom>
          <a:solidFill>
            <a:srgbClr val="fff8e1"/>
          </a:solidFill>
          <a:ln w="25400">
            <a:solidFill>
              <a:srgbClr val="e67e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2"/>
          <p:cNvSpPr/>
          <p:nvPr/>
        </p:nvSpPr>
        <p:spPr>
          <a:xfrm>
            <a:off x="822960" y="502920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Caso de uso clave: Cuando trabajamos con datos sensibles — entrevistas, testimonios, datos personales — los modelos locales garantizan que la informacion no sale de nuestro control.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ounded Rectangle 1"/>
          <p:cNvSpPr/>
          <p:nvPr/>
        </p:nvSpPr>
        <p:spPr>
          <a:xfrm>
            <a:off x="0" y="0"/>
            <a:ext cx="12191400" cy="100548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2"/>
          <p:cNvSpPr/>
          <p:nvPr/>
        </p:nvSpPr>
        <p:spPr>
          <a:xfrm>
            <a:off x="548640" y="13716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Agenda del Taller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548640" y="548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bbccdd"/>
                </a:solidFill>
                <a:effectLst/>
                <a:uFillTx/>
                <a:latin typeface="Calibri"/>
              </a:rPr>
              <a:t>5 modulos progresivos — ~4 horas con pausas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10789920" y="64008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99aa"/>
                </a:solidFill>
                <a:effectLst/>
                <a:uFillTx/>
                <a:latin typeface="Calibri"/>
              </a:rPr>
              <a:t>3 / 12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5"/>
          <p:cNvSpPr/>
          <p:nvPr/>
        </p:nvSpPr>
        <p:spPr>
          <a:xfrm>
            <a:off x="548640" y="1371600"/>
            <a:ext cx="2011320" cy="41144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548640" y="1554480"/>
            <a:ext cx="2011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01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640080" y="2194560"/>
            <a:ext cx="1828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Hola Ollama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8"/>
          <p:cNvSpPr/>
          <p:nvPr/>
        </p:nvSpPr>
        <p:spPr>
          <a:xfrm>
            <a:off x="1097280" y="2926080"/>
            <a:ext cx="914040" cy="31968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9"/>
          <p:cNvSpPr/>
          <p:nvPr/>
        </p:nvSpPr>
        <p:spPr>
          <a:xfrm>
            <a:off x="1097280" y="2944440"/>
            <a:ext cx="9140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10 min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0"/>
          <p:cNvSpPr/>
          <p:nvPr/>
        </p:nvSpPr>
        <p:spPr>
          <a:xfrm>
            <a:off x="685800" y="3474720"/>
            <a:ext cx="1737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Conexion basica</a:t>
            </a:r>
            <a:br>
              <a:rPr sz="1200"/>
            </a:br>
            <a:r>
              <a:rPr lang="en-US" sz="1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a Ollama desde Python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2834640" y="1371600"/>
            <a:ext cx="2011320" cy="41144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12"/>
          <p:cNvSpPr/>
          <p:nvPr/>
        </p:nvSpPr>
        <p:spPr>
          <a:xfrm>
            <a:off x="2834640" y="1554480"/>
            <a:ext cx="2011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02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3"/>
          <p:cNvSpPr/>
          <p:nvPr/>
        </p:nvSpPr>
        <p:spPr>
          <a:xfrm>
            <a:off x="2926080" y="2194560"/>
            <a:ext cx="1828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LangChain</a:t>
            </a:r>
            <a:br>
              <a:rPr sz="1600"/>
            </a:b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Basico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3383280" y="2926080"/>
            <a:ext cx="914040" cy="31968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15"/>
          <p:cNvSpPr/>
          <p:nvPr/>
        </p:nvSpPr>
        <p:spPr>
          <a:xfrm>
            <a:off x="3383280" y="2944440"/>
            <a:ext cx="9140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10 min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16"/>
          <p:cNvSpPr/>
          <p:nvPr/>
        </p:nvSpPr>
        <p:spPr>
          <a:xfrm>
            <a:off x="2971800" y="3474720"/>
            <a:ext cx="1737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Chains, prompts</a:t>
            </a:r>
            <a:br>
              <a:rPr sz="1200"/>
            </a:br>
            <a:r>
              <a:rPr lang="en-US" sz="1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y salida estructurada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ounded Rectangle 17"/>
          <p:cNvSpPr/>
          <p:nvPr/>
        </p:nvSpPr>
        <p:spPr>
          <a:xfrm>
            <a:off x="5120640" y="1371600"/>
            <a:ext cx="2011320" cy="41144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18"/>
          <p:cNvSpPr/>
          <p:nvPr/>
        </p:nvSpPr>
        <p:spPr>
          <a:xfrm>
            <a:off x="5120640" y="1554480"/>
            <a:ext cx="2011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03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9"/>
          <p:cNvSpPr/>
          <p:nvPr/>
        </p:nvSpPr>
        <p:spPr>
          <a:xfrm>
            <a:off x="5212080" y="2194560"/>
            <a:ext cx="1828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Herramientas</a:t>
            </a:r>
            <a:br>
              <a:rPr sz="1600"/>
            </a:b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y Agentes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ounded Rectangle 20"/>
          <p:cNvSpPr/>
          <p:nvPr/>
        </p:nvSpPr>
        <p:spPr>
          <a:xfrm>
            <a:off x="5669280" y="2926080"/>
            <a:ext cx="914040" cy="31968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21"/>
          <p:cNvSpPr/>
          <p:nvPr/>
        </p:nvSpPr>
        <p:spPr>
          <a:xfrm>
            <a:off x="5669280" y="2944440"/>
            <a:ext cx="9140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20 min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22"/>
          <p:cNvSpPr/>
          <p:nvPr/>
        </p:nvSpPr>
        <p:spPr>
          <a:xfrm>
            <a:off x="5257800" y="3474720"/>
            <a:ext cx="1737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Crear tools propias</a:t>
            </a:r>
            <a:br>
              <a:rPr sz="1200"/>
            </a:br>
            <a:r>
              <a:rPr lang="en-US" sz="1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y agentes ReAct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ounded Rectangle 23"/>
          <p:cNvSpPr/>
          <p:nvPr/>
        </p:nvSpPr>
        <p:spPr>
          <a:xfrm>
            <a:off x="7406640" y="1371600"/>
            <a:ext cx="2011320" cy="41144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Box 24"/>
          <p:cNvSpPr/>
          <p:nvPr/>
        </p:nvSpPr>
        <p:spPr>
          <a:xfrm>
            <a:off x="7406640" y="1554480"/>
            <a:ext cx="2011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04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25"/>
          <p:cNvSpPr/>
          <p:nvPr/>
        </p:nvSpPr>
        <p:spPr>
          <a:xfrm>
            <a:off x="7498080" y="2194560"/>
            <a:ext cx="1828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RAG Local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26"/>
          <p:cNvSpPr/>
          <p:nvPr/>
        </p:nvSpPr>
        <p:spPr>
          <a:xfrm>
            <a:off x="7955280" y="2926080"/>
            <a:ext cx="914040" cy="31968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27"/>
          <p:cNvSpPr/>
          <p:nvPr/>
        </p:nvSpPr>
        <p:spPr>
          <a:xfrm>
            <a:off x="7955280" y="2944440"/>
            <a:ext cx="9140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10 min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8"/>
          <p:cNvSpPr/>
          <p:nvPr/>
        </p:nvSpPr>
        <p:spPr>
          <a:xfrm>
            <a:off x="7543800" y="3474720"/>
            <a:ext cx="1737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Busqueda semantica</a:t>
            </a:r>
            <a:br>
              <a:rPr sz="1200"/>
            </a:br>
            <a:r>
              <a:rPr lang="en-US" sz="1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en documentos locales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ounded Rectangle 29"/>
          <p:cNvSpPr/>
          <p:nvPr/>
        </p:nvSpPr>
        <p:spPr>
          <a:xfrm>
            <a:off x="9692640" y="1371600"/>
            <a:ext cx="2011320" cy="41144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Box 30"/>
          <p:cNvSpPr/>
          <p:nvPr/>
        </p:nvSpPr>
        <p:spPr>
          <a:xfrm>
            <a:off x="9692640" y="1554480"/>
            <a:ext cx="2011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05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31"/>
          <p:cNvSpPr/>
          <p:nvPr/>
        </p:nvSpPr>
        <p:spPr>
          <a:xfrm>
            <a:off x="9784080" y="2194560"/>
            <a:ext cx="1828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Agente</a:t>
            </a:r>
            <a:br>
              <a:rPr sz="1600"/>
            </a:b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Completo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ounded Rectangle 32"/>
          <p:cNvSpPr/>
          <p:nvPr/>
        </p:nvSpPr>
        <p:spPr>
          <a:xfrm>
            <a:off x="10241280" y="2926080"/>
            <a:ext cx="914040" cy="31968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33"/>
          <p:cNvSpPr/>
          <p:nvPr/>
        </p:nvSpPr>
        <p:spPr>
          <a:xfrm>
            <a:off x="10241280" y="2944440"/>
            <a:ext cx="9140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10 min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34"/>
          <p:cNvSpPr/>
          <p:nvPr/>
        </p:nvSpPr>
        <p:spPr>
          <a:xfrm>
            <a:off x="9829800" y="3474720"/>
            <a:ext cx="1737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Todo integrado:</a:t>
            </a:r>
            <a:br>
              <a:rPr sz="1200"/>
            </a:br>
            <a:r>
              <a:rPr lang="en-US" sz="1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RAG + tools + memoria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35"/>
          <p:cNvSpPr/>
          <p:nvPr/>
        </p:nvSpPr>
        <p:spPr>
          <a:xfrm>
            <a:off x="548640" y="576072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Cada modulo: teoria breve en slides + practica en Jupyter Notebook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ounded Rectangle 1"/>
          <p:cNvSpPr/>
          <p:nvPr/>
        </p:nvSpPr>
        <p:spPr>
          <a:xfrm>
            <a:off x="0" y="0"/>
            <a:ext cx="12191400" cy="100548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2"/>
          <p:cNvSpPr/>
          <p:nvPr/>
        </p:nvSpPr>
        <p:spPr>
          <a:xfrm>
            <a:off x="548640" y="13716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¿Que es Ollama?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548640" y="548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bbccdd"/>
                </a:solidFill>
                <a:effectLst/>
                <a:uFillTx/>
                <a:latin typeface="Calibri"/>
              </a:rPr>
              <a:t>Tu servidor local de modelos de lenguaje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4"/>
          <p:cNvSpPr/>
          <p:nvPr/>
        </p:nvSpPr>
        <p:spPr>
          <a:xfrm>
            <a:off x="10789920" y="64008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99aa"/>
                </a:solidFill>
                <a:effectLst/>
                <a:uFillTx/>
                <a:latin typeface="Calibri"/>
              </a:rPr>
              <a:t>4 / 12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5"/>
          <p:cNvSpPr/>
          <p:nvPr/>
        </p:nvSpPr>
        <p:spPr>
          <a:xfrm>
            <a:off x="548640" y="1280160"/>
            <a:ext cx="3474360" cy="1645560"/>
          </a:xfrm>
          <a:prstGeom prst="roundRect">
            <a:avLst>
              <a:gd name="adj" fmla="val 16667"/>
            </a:avLst>
          </a:prstGeom>
          <a:solidFill>
            <a:srgbClr val="ebf5fb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6"/>
          <p:cNvSpPr/>
          <p:nvPr/>
        </p:nvSpPr>
        <p:spPr>
          <a:xfrm>
            <a:off x="731520" y="141732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Descarga modelos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7"/>
          <p:cNvSpPr/>
          <p:nvPr/>
        </p:nvSpPr>
        <p:spPr>
          <a:xfrm>
            <a:off x="731520" y="1874520"/>
            <a:ext cx="3108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Un solo comando: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ollama pull gemma3:12b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Rounded Rectangle 8"/>
          <p:cNvSpPr/>
          <p:nvPr/>
        </p:nvSpPr>
        <p:spPr>
          <a:xfrm>
            <a:off x="4389120" y="1280160"/>
            <a:ext cx="3474360" cy="1645560"/>
          </a:xfrm>
          <a:prstGeom prst="roundRect">
            <a:avLst>
              <a:gd name="adj" fmla="val 16667"/>
            </a:avLst>
          </a:prstGeom>
          <a:solidFill>
            <a:srgbClr val="ebf5fb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9"/>
          <p:cNvSpPr/>
          <p:nvPr/>
        </p:nvSpPr>
        <p:spPr>
          <a:xfrm>
            <a:off x="4572000" y="141732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Servidor local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0"/>
          <p:cNvSpPr/>
          <p:nvPr/>
        </p:nvSpPr>
        <p:spPr>
          <a:xfrm>
            <a:off x="4572000" y="1874520"/>
            <a:ext cx="3108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Corre en localhost:11434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Cualquier programa se conecta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Rounded Rectangle 11"/>
          <p:cNvSpPr/>
          <p:nvPr/>
        </p:nvSpPr>
        <p:spPr>
          <a:xfrm>
            <a:off x="8229600" y="1280160"/>
            <a:ext cx="3474360" cy="1645560"/>
          </a:xfrm>
          <a:prstGeom prst="roundRect">
            <a:avLst>
              <a:gd name="adj" fmla="val 16667"/>
            </a:avLst>
          </a:prstGeom>
          <a:solidFill>
            <a:srgbClr val="ebf5fb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12"/>
          <p:cNvSpPr/>
          <p:nvPr/>
        </p:nvSpPr>
        <p:spPr>
          <a:xfrm>
            <a:off x="8412480" y="141732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Multiples modelos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13"/>
          <p:cNvSpPr/>
          <p:nvPr/>
        </p:nvSpPr>
        <p:spPr>
          <a:xfrm>
            <a:off x="8412480" y="1874520"/>
            <a:ext cx="3108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Cambia entre modelos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segun la tarea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14"/>
          <p:cNvSpPr/>
          <p:nvPr/>
        </p:nvSpPr>
        <p:spPr>
          <a:xfrm>
            <a:off x="548640" y="32004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Modelos que usaremos en el taller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7" name="Table 15"/>
          <p:cNvGraphicFramePr/>
          <p:nvPr/>
        </p:nvGraphicFramePr>
        <p:xfrm>
          <a:off x="548640" y="3657600"/>
          <a:ext cx="10972440" cy="201168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3840480"/>
                <a:gridCol w="3200400"/>
              </a:tblGrid>
              <a:tr h="502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Modelo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Tamano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Uso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Comando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502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gemma3:27b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~17 GB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Modelo principal (razonamiento complejo)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ollama pull gemma3:27b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502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gemma3:12b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~8 GB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Alternativa mas rapida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ollama pull gemma3:12b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nomic-embed-text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~275 MB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Embeddings para RAG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ollama pull nomic-embed-text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ounded Rectangle 1"/>
          <p:cNvSpPr/>
          <p:nvPr/>
        </p:nvSpPr>
        <p:spPr>
          <a:xfrm>
            <a:off x="0" y="0"/>
            <a:ext cx="12191400" cy="100548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2"/>
          <p:cNvSpPr/>
          <p:nvPr/>
        </p:nvSpPr>
        <p:spPr>
          <a:xfrm>
            <a:off x="548640" y="13716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¿Que es LangChain?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548640" y="548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bbccdd"/>
                </a:solidFill>
                <a:effectLst/>
                <a:uFillTx/>
                <a:latin typeface="Calibri"/>
              </a:rPr>
              <a:t>El framework para construir aplicaciones con LLMs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4"/>
          <p:cNvSpPr/>
          <p:nvPr/>
        </p:nvSpPr>
        <p:spPr>
          <a:xfrm>
            <a:off x="10789920" y="64008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99aa"/>
                </a:solidFill>
                <a:effectLst/>
                <a:uFillTx/>
                <a:latin typeface="Calibri"/>
              </a:rPr>
              <a:t>5 / 12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ounded Rectangle 5"/>
          <p:cNvSpPr/>
          <p:nvPr/>
        </p:nvSpPr>
        <p:spPr>
          <a:xfrm>
            <a:off x="548640" y="1280160"/>
            <a:ext cx="3474360" cy="2011320"/>
          </a:xfrm>
          <a:prstGeom prst="roundRect">
            <a:avLst>
              <a:gd name="adj" fmla="val 16667"/>
            </a:avLst>
          </a:prstGeom>
          <a:solidFill>
            <a:srgbClr val="fef9f0"/>
          </a:solidFill>
          <a:ln w="25400">
            <a:solidFill>
              <a:srgbClr val="e67e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731520" y="141732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Prompt Templates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7"/>
          <p:cNvSpPr/>
          <p:nvPr/>
        </p:nvSpPr>
        <p:spPr>
          <a:xfrm>
            <a:off x="731520" y="1920240"/>
            <a:ext cx="31086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Plantillas reutilizables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con variables.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No mas concatenar strings.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ounded Rectangle 8"/>
          <p:cNvSpPr/>
          <p:nvPr/>
        </p:nvSpPr>
        <p:spPr>
          <a:xfrm>
            <a:off x="4389120" y="1280160"/>
            <a:ext cx="3474360" cy="2011320"/>
          </a:xfrm>
          <a:prstGeom prst="roundRect">
            <a:avLst>
              <a:gd name="adj" fmla="val 16667"/>
            </a:avLst>
          </a:prstGeom>
          <a:solidFill>
            <a:srgbClr val="fef9f0"/>
          </a:solidFill>
          <a:ln w="25400">
            <a:solidFill>
              <a:srgbClr val="e67e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Box 9"/>
          <p:cNvSpPr/>
          <p:nvPr/>
        </p:nvSpPr>
        <p:spPr>
          <a:xfrm>
            <a:off x="4572000" y="141732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Chains (LCEL)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10"/>
          <p:cNvSpPr/>
          <p:nvPr/>
        </p:nvSpPr>
        <p:spPr>
          <a:xfrm>
            <a:off x="4572000" y="1920240"/>
            <a:ext cx="31086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Encadena operaciones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con el operador |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prompt | modelo | parser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Rounded Rectangle 11"/>
          <p:cNvSpPr/>
          <p:nvPr/>
        </p:nvSpPr>
        <p:spPr>
          <a:xfrm>
            <a:off x="8229600" y="1280160"/>
            <a:ext cx="3474360" cy="2011320"/>
          </a:xfrm>
          <a:prstGeom prst="roundRect">
            <a:avLst>
              <a:gd name="adj" fmla="val 16667"/>
            </a:avLst>
          </a:prstGeom>
          <a:solidFill>
            <a:srgbClr val="fef9f0"/>
          </a:solidFill>
          <a:ln w="25400">
            <a:solidFill>
              <a:srgbClr val="e67e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12"/>
          <p:cNvSpPr/>
          <p:nvPr/>
        </p:nvSpPr>
        <p:spPr>
          <a:xfrm>
            <a:off x="8412480" y="141732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Salida Estructurada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3"/>
          <p:cNvSpPr/>
          <p:nvPr/>
        </p:nvSpPr>
        <p:spPr>
          <a:xfrm>
            <a:off x="8412480" y="1920240"/>
            <a:ext cx="31086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Fuerza al modelo a devolver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JSON valido con esquemas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Pydantic.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ounded Rectangle 14"/>
          <p:cNvSpPr/>
          <p:nvPr/>
        </p:nvSpPr>
        <p:spPr>
          <a:xfrm>
            <a:off x="548640" y="3657600"/>
            <a:ext cx="10972440" cy="228564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15"/>
          <p:cNvSpPr/>
          <p:nvPr/>
        </p:nvSpPr>
        <p:spPr>
          <a:xfrm>
            <a:off x="822960" y="3840480"/>
            <a:ext cx="1051524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from langchain_ollama import ChatOllama</a:t>
            </a: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from langchain_core.prompts import ChatPromptTemplate</a:t>
            </a: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from langchain_core.output_parsers import StrOutputParser</a:t>
            </a:r>
            <a:br>
              <a:rPr sz="1300"/>
            </a:b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llm = ChatOllama(model="gemma3:12b", temperature=0)</a:t>
            </a:r>
            <a:br>
              <a:rPr sz="1300"/>
            </a:b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prompt = ChatPromptTemplate.from_messages([</a:t>
            </a: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("system", "Eres un experto en {tema}."),</a:t>
            </a: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("human", "{pregunta}"),</a:t>
            </a: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])</a:t>
            </a:r>
            <a:br>
              <a:rPr sz="1300"/>
            </a:b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chain = prompt | llm | StrOutputParser()     # prompt → modelo → texto</a:t>
            </a: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resultado = chain.invoke({"tema": "historia", "pregunta": "..."})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ounded Rectangle 1"/>
          <p:cNvSpPr/>
          <p:nvPr/>
        </p:nvSpPr>
        <p:spPr>
          <a:xfrm>
            <a:off x="0" y="0"/>
            <a:ext cx="12191400" cy="100548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TextBox 2"/>
          <p:cNvSpPr/>
          <p:nvPr/>
        </p:nvSpPr>
        <p:spPr>
          <a:xfrm>
            <a:off x="548640" y="13716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¿Que es un Agente de IA?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3"/>
          <p:cNvSpPr/>
          <p:nvPr/>
        </p:nvSpPr>
        <p:spPr>
          <a:xfrm>
            <a:off x="548640" y="548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bbccdd"/>
                </a:solidFill>
                <a:effectLst/>
                <a:uFillTx/>
                <a:latin typeface="Calibri"/>
              </a:rPr>
              <a:t>Un LLM que razona, decide y actua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4"/>
          <p:cNvSpPr/>
          <p:nvPr/>
        </p:nvSpPr>
        <p:spPr>
          <a:xfrm>
            <a:off x="10789920" y="64008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99aa"/>
                </a:solidFill>
                <a:effectLst/>
                <a:uFillTx/>
                <a:latin typeface="Calibri"/>
              </a:rPr>
              <a:t>6 / 12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ounded Rectangle 5"/>
          <p:cNvSpPr/>
          <p:nvPr/>
        </p:nvSpPr>
        <p:spPr>
          <a:xfrm>
            <a:off x="548640" y="1280160"/>
            <a:ext cx="5303160" cy="2559960"/>
          </a:xfrm>
          <a:prstGeom prst="roundRect">
            <a:avLst>
              <a:gd name="adj" fmla="val 16667"/>
            </a:avLst>
          </a:prstGeom>
          <a:solidFill>
            <a:srgbClr val="fef5f5"/>
          </a:solidFill>
          <a:ln w="2540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6"/>
          <p:cNvSpPr/>
          <p:nvPr/>
        </p:nvSpPr>
        <p:spPr>
          <a:xfrm>
            <a:off x="731520" y="137160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Chatbot Tradicional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7"/>
          <p:cNvSpPr/>
          <p:nvPr/>
        </p:nvSpPr>
        <p:spPr>
          <a:xfrm>
            <a:off x="731520" y="1737360"/>
            <a:ext cx="49374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Pregunta → Respuesta (un solo paso)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Solo usa lo que sabe del entrenamiento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No puede acceder a datos externos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No puede ejecutar acciones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ounded Rectangle 8"/>
          <p:cNvSpPr/>
          <p:nvPr/>
        </p:nvSpPr>
        <p:spPr>
          <a:xfrm>
            <a:off x="6217920" y="1280160"/>
            <a:ext cx="5303160" cy="2559960"/>
          </a:xfrm>
          <a:prstGeom prst="roundRect">
            <a:avLst>
              <a:gd name="adj" fmla="val 16667"/>
            </a:avLst>
          </a:prstGeom>
          <a:solidFill>
            <a:srgbClr val="f0fdf4"/>
          </a:solidFill>
          <a:ln w="25400">
            <a:solidFill>
              <a:srgbClr val="27ae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Box 9"/>
          <p:cNvSpPr/>
          <p:nvPr/>
        </p:nvSpPr>
        <p:spPr>
          <a:xfrm>
            <a:off x="6400800" y="137160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7ae60"/>
                </a:solidFill>
                <a:effectLst/>
                <a:uFillTx/>
                <a:latin typeface="Calibri"/>
              </a:rPr>
              <a:t>Agente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6400800" y="1737360"/>
            <a:ext cx="49374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Pregunta → Razona → Actua → Observa → Repite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Usa herramientas para obtener info actual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Busca en documentos, bases de datos, APIs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Hace calculos, lee archivos, genera reportes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1"/>
          <p:cNvSpPr/>
          <p:nvPr/>
        </p:nvSpPr>
        <p:spPr>
          <a:xfrm>
            <a:off x="548640" y="41148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Ciclo ReAct (Reason + Act)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12"/>
          <p:cNvSpPr/>
          <p:nvPr/>
        </p:nvSpPr>
        <p:spPr>
          <a:xfrm>
            <a:off x="548640" y="4572000"/>
            <a:ext cx="1919880" cy="82260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Usuario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dddddd"/>
                </a:solidFill>
                <a:effectLst/>
                <a:uFillTx/>
                <a:latin typeface="Calibri"/>
              </a:rPr>
              <a:t>Pregunta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13"/>
          <p:cNvSpPr/>
          <p:nvPr/>
        </p:nvSpPr>
        <p:spPr>
          <a:xfrm>
            <a:off x="2468880" y="470916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→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14"/>
          <p:cNvSpPr/>
          <p:nvPr/>
        </p:nvSpPr>
        <p:spPr>
          <a:xfrm>
            <a:off x="2834640" y="4572000"/>
            <a:ext cx="1919880" cy="82260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LLM Razona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dddddd"/>
                </a:solidFill>
                <a:effectLst/>
                <a:uFillTx/>
                <a:latin typeface="Calibri"/>
              </a:rPr>
              <a:t>"Necesito usar X"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5"/>
          <p:cNvSpPr/>
          <p:nvPr/>
        </p:nvSpPr>
        <p:spPr>
          <a:xfrm>
            <a:off x="4754880" y="470916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→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16"/>
          <p:cNvSpPr/>
          <p:nvPr/>
        </p:nvSpPr>
        <p:spPr>
          <a:xfrm>
            <a:off x="5120640" y="4572000"/>
            <a:ext cx="1919880" cy="822600"/>
          </a:xfrm>
          <a:prstGeom prst="roundRect">
            <a:avLst>
              <a:gd name="adj" fmla="val 16667"/>
            </a:avLst>
          </a:prstGeom>
          <a:solidFill>
            <a:srgbClr val="27ae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Herramienta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dddddd"/>
                </a:solidFill>
                <a:effectLst/>
                <a:uFillTx/>
                <a:latin typeface="Calibri"/>
              </a:rPr>
              <a:t>Ejecuta accion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17"/>
          <p:cNvSpPr/>
          <p:nvPr/>
        </p:nvSpPr>
        <p:spPr>
          <a:xfrm>
            <a:off x="7040880" y="470916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→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8"/>
          <p:cNvSpPr/>
          <p:nvPr/>
        </p:nvSpPr>
        <p:spPr>
          <a:xfrm>
            <a:off x="7406640" y="4572000"/>
            <a:ext cx="1919880" cy="82260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LLM Evalua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dddddd"/>
                </a:solidFill>
                <a:effectLst/>
                <a:uFillTx/>
                <a:latin typeface="Calibri"/>
              </a:rPr>
              <a:t>"Suficiente?"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19"/>
          <p:cNvSpPr/>
          <p:nvPr/>
        </p:nvSpPr>
        <p:spPr>
          <a:xfrm>
            <a:off x="9326880" y="470916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→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20"/>
          <p:cNvSpPr/>
          <p:nvPr/>
        </p:nvSpPr>
        <p:spPr>
          <a:xfrm>
            <a:off x="9692640" y="4572000"/>
            <a:ext cx="1919880" cy="82260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Respuesta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dddddd"/>
                </a:solidFill>
                <a:effectLst/>
                <a:uFillTx/>
                <a:latin typeface="Calibri"/>
              </a:rPr>
              <a:t>Al usuario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Rounded Rectangle 21"/>
          <p:cNvSpPr/>
          <p:nvPr/>
        </p:nvSpPr>
        <p:spPr>
          <a:xfrm>
            <a:off x="548640" y="5669280"/>
            <a:ext cx="10972440" cy="731160"/>
          </a:xfrm>
          <a:prstGeom prst="roundRect">
            <a:avLst>
              <a:gd name="adj" fmla="val 16667"/>
            </a:avLst>
          </a:prstGeom>
          <a:solidFill>
            <a:srgbClr val="fff8e1"/>
          </a:solidFill>
          <a:ln w="25400">
            <a:solidFill>
              <a:srgbClr val="e67e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Box 22"/>
          <p:cNvSpPr/>
          <p:nvPr/>
        </p:nvSpPr>
        <p:spPr>
          <a:xfrm>
            <a:off x="822960" y="576072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El LLM NO ejecuta codigo directamente. DECIDE que herramienta usar y con que parametros. El sistema ejecuta la herramienta y le devuelve el resultado.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1"/>
          <p:cNvSpPr/>
          <p:nvPr/>
        </p:nvSpPr>
        <p:spPr>
          <a:xfrm>
            <a:off x="0" y="0"/>
            <a:ext cx="12191400" cy="100548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2"/>
          <p:cNvSpPr/>
          <p:nvPr/>
        </p:nvSpPr>
        <p:spPr>
          <a:xfrm>
            <a:off x="548640" y="13716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Herramientas: las manos del agente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3"/>
          <p:cNvSpPr/>
          <p:nvPr/>
        </p:nvSpPr>
        <p:spPr>
          <a:xfrm>
            <a:off x="548640" y="548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bbccdd"/>
                </a:solidFill>
                <a:effectLst/>
                <a:uFillTx/>
                <a:latin typeface="Calibri"/>
              </a:rPr>
              <a:t>Funciones Python que el agente puede invocar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4"/>
          <p:cNvSpPr/>
          <p:nvPr/>
        </p:nvSpPr>
        <p:spPr>
          <a:xfrm>
            <a:off x="10789920" y="64008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99aa"/>
                </a:solidFill>
                <a:effectLst/>
                <a:uFillTx/>
                <a:latin typeface="Calibri"/>
              </a:rPr>
              <a:t>7 / 12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Rounded Rectangle 5"/>
          <p:cNvSpPr/>
          <p:nvPr/>
        </p:nvSpPr>
        <p:spPr>
          <a:xfrm>
            <a:off x="548640" y="1280160"/>
            <a:ext cx="5486040" cy="347436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6"/>
          <p:cNvSpPr/>
          <p:nvPr/>
        </p:nvSpPr>
        <p:spPr>
          <a:xfrm>
            <a:off x="777240" y="1417320"/>
            <a:ext cx="502884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from langchain_core.tools import tool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import math</a:t>
            </a:r>
            <a:br>
              <a:rPr sz="1200"/>
            </a:b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@tool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def calculadora(expresion: str) -&gt; str: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"""Evalua una expresion matematica.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Usala para hacer calculos."""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resultado = eval(expresion,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    {"math": math})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return f"Resultado: {resultado}"</a:t>
            </a:r>
            <a:br>
              <a:rPr sz="1200"/>
            </a:b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@tool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def fecha_actual() -&gt; str: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"""Devuelve la fecha y hora actual.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Usala cuando pregunten la fecha."""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import datetime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return str(datetime.datetime.now())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7"/>
          <p:cNvSpPr/>
          <p:nvPr/>
        </p:nvSpPr>
        <p:spPr>
          <a:xfrm>
            <a:off x="6583680" y="128016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El docstring es CLAVE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ounded Rectangle 8"/>
          <p:cNvSpPr/>
          <p:nvPr/>
        </p:nvSpPr>
        <p:spPr>
          <a:xfrm>
            <a:off x="6583680" y="1828800"/>
            <a:ext cx="365400" cy="36540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Box 9"/>
          <p:cNvSpPr/>
          <p:nvPr/>
        </p:nvSpPr>
        <p:spPr>
          <a:xfrm>
            <a:off x="6583680" y="18471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10"/>
          <p:cNvSpPr/>
          <p:nvPr/>
        </p:nvSpPr>
        <p:spPr>
          <a:xfrm>
            <a:off x="7132320" y="1828800"/>
            <a:ext cx="4114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1. Nombre de la funcion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11"/>
          <p:cNvSpPr/>
          <p:nvPr/>
        </p:nvSpPr>
        <p:spPr>
          <a:xfrm>
            <a:off x="7132320" y="2103120"/>
            <a:ext cx="4114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Le dice al modelo como llamarla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12"/>
          <p:cNvSpPr/>
          <p:nvPr/>
        </p:nvSpPr>
        <p:spPr>
          <a:xfrm>
            <a:off x="6583680" y="2514600"/>
            <a:ext cx="365400" cy="36540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13"/>
          <p:cNvSpPr/>
          <p:nvPr/>
        </p:nvSpPr>
        <p:spPr>
          <a:xfrm>
            <a:off x="6583680" y="25329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4"/>
          <p:cNvSpPr/>
          <p:nvPr/>
        </p:nvSpPr>
        <p:spPr>
          <a:xfrm>
            <a:off x="7132320" y="2514600"/>
            <a:ext cx="4114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2. Docstring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15"/>
          <p:cNvSpPr/>
          <p:nvPr/>
        </p:nvSpPr>
        <p:spPr>
          <a:xfrm>
            <a:off x="7132320" y="2788920"/>
            <a:ext cx="4114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Le dice al modelo CUANDO usarla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16"/>
          <p:cNvSpPr/>
          <p:nvPr/>
        </p:nvSpPr>
        <p:spPr>
          <a:xfrm>
            <a:off x="6583680" y="3200400"/>
            <a:ext cx="365400" cy="36540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17"/>
          <p:cNvSpPr/>
          <p:nvPr/>
        </p:nvSpPr>
        <p:spPr>
          <a:xfrm>
            <a:off x="6583680" y="32187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8"/>
          <p:cNvSpPr/>
          <p:nvPr/>
        </p:nvSpPr>
        <p:spPr>
          <a:xfrm>
            <a:off x="7132320" y="3200400"/>
            <a:ext cx="4114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3. Parametros tipados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9"/>
          <p:cNvSpPr/>
          <p:nvPr/>
        </p:nvSpPr>
        <p:spPr>
          <a:xfrm>
            <a:off x="7132320" y="3474720"/>
            <a:ext cx="4114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Le dice que argumentos enviar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20"/>
          <p:cNvSpPr/>
          <p:nvPr/>
        </p:nvSpPr>
        <p:spPr>
          <a:xfrm>
            <a:off x="6583680" y="3886200"/>
            <a:ext cx="365400" cy="36540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21"/>
          <p:cNvSpPr/>
          <p:nvPr/>
        </p:nvSpPr>
        <p:spPr>
          <a:xfrm>
            <a:off x="6583680" y="39045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2"/>
          <p:cNvSpPr/>
          <p:nvPr/>
        </p:nvSpPr>
        <p:spPr>
          <a:xfrm>
            <a:off x="7132320" y="3886200"/>
            <a:ext cx="4114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4. Retorno string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23"/>
          <p:cNvSpPr/>
          <p:nvPr/>
        </p:nvSpPr>
        <p:spPr>
          <a:xfrm>
            <a:off x="7132320" y="4160520"/>
            <a:ext cx="4114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El agente lee el resultado como texto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24"/>
          <p:cNvSpPr/>
          <p:nvPr/>
        </p:nvSpPr>
        <p:spPr>
          <a:xfrm>
            <a:off x="548640" y="50292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Ejemplos de herramientas utiles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9" name="Table 25"/>
          <p:cNvGraphicFramePr/>
          <p:nvPr/>
        </p:nvGraphicFramePr>
        <p:xfrm>
          <a:off x="548640" y="5394960"/>
          <a:ext cx="10972440" cy="1373400"/>
        </p:xfrm>
        <a:graphic>
          <a:graphicData uri="http://schemas.openxmlformats.org/drawingml/2006/table">
            <a:tbl>
              <a:tblPr/>
              <a:tblGrid>
                <a:gridCol w="2286000"/>
                <a:gridCol w="4114800"/>
                <a:gridCol w="4572000"/>
              </a:tblGrid>
              <a:tr h="255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Herramienta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Que hace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Ejemplo de uso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255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calculadora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Evalua expresiones matematicas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"¿Cuanto es 1500 * 3.5 / 60?"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255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fecha_actual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Devuelve fecha/hora del sistema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"¿Que dia es hoy?"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255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leer_archivo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Lee contenido de archivos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"¿Que dice config.txt?"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2559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buscar_docs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Busca en base vectorial (RAG)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</a:rPr>
                        <a:t>"¿Que sabemos sobre X?"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ounded Rectangle 1"/>
          <p:cNvSpPr/>
          <p:nvPr/>
        </p:nvSpPr>
        <p:spPr>
          <a:xfrm>
            <a:off x="0" y="0"/>
            <a:ext cx="12191400" cy="100548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13716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Construir un Agente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548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bbccdd"/>
                </a:solidFill>
                <a:effectLst/>
                <a:uFillTx/>
                <a:latin typeface="Calibri"/>
              </a:rPr>
              <a:t>5 lineas de codigo con LangGraph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4"/>
          <p:cNvSpPr/>
          <p:nvPr/>
        </p:nvSpPr>
        <p:spPr>
          <a:xfrm>
            <a:off x="10789920" y="64008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99aa"/>
                </a:solidFill>
                <a:effectLst/>
                <a:uFillTx/>
                <a:latin typeface="Calibri"/>
              </a:rPr>
              <a:t>8 / 12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Rounded Rectangle 5"/>
          <p:cNvSpPr/>
          <p:nvPr/>
        </p:nvSpPr>
        <p:spPr>
          <a:xfrm>
            <a:off x="548640" y="1280160"/>
            <a:ext cx="10972440" cy="365724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TextBox 6"/>
          <p:cNvSpPr/>
          <p:nvPr/>
        </p:nvSpPr>
        <p:spPr>
          <a:xfrm>
            <a:off x="822960" y="1463040"/>
            <a:ext cx="10515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from langgraph.prebuilt import create_react_agent</a:t>
            </a:r>
            <a:br>
              <a:rPr sz="1400"/>
            </a:b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from langchain_ollama import ChatOllama</a:t>
            </a:r>
            <a:br>
              <a:rPr sz="1400"/>
            </a:br>
            <a:br>
              <a:rPr sz="1400"/>
            </a:b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# 1. Modelo local</a:t>
            </a:r>
            <a:br>
              <a:rPr sz="1400"/>
            </a:b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llm = ChatOllama(model="gemma3:12b", temperature=0)</a:t>
            </a:r>
            <a:br>
              <a:rPr sz="1400"/>
            </a:br>
            <a:br>
              <a:rPr sz="1400"/>
            </a:b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# 2. Herramientas</a:t>
            </a:r>
            <a:br>
              <a:rPr sz="1400"/>
            </a:b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herramientas = [calculadora, fecha_actual, buscar_documentos]</a:t>
            </a:r>
            <a:br>
              <a:rPr sz="1400"/>
            </a:br>
            <a:br>
              <a:rPr sz="1400"/>
            </a:b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# 3. Crear agente</a:t>
            </a:r>
            <a:br>
              <a:rPr sz="1400"/>
            </a:b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agente = create_react_agent(</a:t>
            </a:r>
            <a:br>
              <a:rPr sz="1400"/>
            </a:b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model=llm,</a:t>
            </a:r>
            <a:br>
              <a:rPr sz="1400"/>
            </a:b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tools=herramientas,</a:t>
            </a:r>
            <a:br>
              <a:rPr sz="1400"/>
            </a:b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prompt="Eres un asistente investigador. Responde en espanol.",</a:t>
            </a:r>
            <a:br>
              <a:rPr sz="1400"/>
            </a:b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)</a:t>
            </a:r>
            <a:br>
              <a:rPr sz="1400"/>
            </a:br>
            <a:br>
              <a:rPr sz="1400"/>
            </a:b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# 4. Usar el agente</a:t>
            </a:r>
            <a:br>
              <a:rPr sz="1400"/>
            </a:b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resultado = agente.invoke({"messages": [("human", "¿Cuanto es 200 * 45?")]})</a:t>
            </a:r>
            <a:br>
              <a:rPr sz="1400"/>
            </a:br>
            <a:r>
              <a:rPr lang="en-US" sz="14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print(resultado["messages"][-1].content)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Rounded Rectangle 7"/>
          <p:cNvSpPr/>
          <p:nvPr/>
        </p:nvSpPr>
        <p:spPr>
          <a:xfrm>
            <a:off x="548640" y="5212080"/>
            <a:ext cx="10972440" cy="1096920"/>
          </a:xfrm>
          <a:prstGeom prst="roundRect">
            <a:avLst>
              <a:gd name="adj" fmla="val 16667"/>
            </a:avLst>
          </a:prstGeom>
          <a:solidFill>
            <a:srgbClr val="fff8e1"/>
          </a:solidFill>
          <a:ln w="25400">
            <a:solidFill>
              <a:srgbClr val="e67e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TextBox 8"/>
          <p:cNvSpPr/>
          <p:nvPr/>
        </p:nvSpPr>
        <p:spPr>
          <a:xfrm>
            <a:off x="822960" y="534924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create_react_agent crea el loop completo: el LLM decide si usar una herramienta, el sistema la ejecuta, el LLM evalua el resultado, y repite hasta poder responder.</a:t>
            </a:r>
            <a:br>
              <a:rPr sz="1400"/>
            </a:br>
            <a:br>
              <a:rPr sz="1400"/>
            </a:br>
            <a:r>
              <a:rPr lang="en-US" sz="14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El agente funciona con CUALQUIER modelo de Ollama: gemma3, llama, mistral, qwen...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ounded Rectangle 1"/>
          <p:cNvSpPr/>
          <p:nvPr/>
        </p:nvSpPr>
        <p:spPr>
          <a:xfrm>
            <a:off x="0" y="0"/>
            <a:ext cx="12191400" cy="100548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2"/>
          <p:cNvSpPr/>
          <p:nvPr/>
        </p:nvSpPr>
        <p:spPr>
          <a:xfrm>
            <a:off x="548640" y="13716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RAG: preguntar sobre tus documentos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3"/>
          <p:cNvSpPr/>
          <p:nvPr/>
        </p:nvSpPr>
        <p:spPr>
          <a:xfrm>
            <a:off x="548640" y="548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bbccdd"/>
                </a:solidFill>
                <a:effectLst/>
                <a:uFillTx/>
                <a:latin typeface="Calibri"/>
              </a:rPr>
              <a:t>Retrieval Augmented Generation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4"/>
          <p:cNvSpPr/>
          <p:nvPr/>
        </p:nvSpPr>
        <p:spPr>
          <a:xfrm>
            <a:off x="10789920" y="64008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99aa"/>
                </a:solidFill>
                <a:effectLst/>
                <a:uFillTx/>
                <a:latin typeface="Calibri"/>
              </a:rPr>
              <a:t>9 / 12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5"/>
          <p:cNvSpPr/>
          <p:nvPr/>
        </p:nvSpPr>
        <p:spPr>
          <a:xfrm>
            <a:off x="548640" y="118872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Fase 1: Indexacion (se hace una vez)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ounded Rectangle 6"/>
          <p:cNvSpPr/>
          <p:nvPr/>
        </p:nvSpPr>
        <p:spPr>
          <a:xfrm>
            <a:off x="548640" y="1645920"/>
            <a:ext cx="2377080" cy="776880"/>
          </a:xfrm>
          <a:prstGeom prst="roundRect">
            <a:avLst>
              <a:gd name="adj" fmla="val 16667"/>
            </a:avLst>
          </a:prstGeom>
          <a:solidFill>
            <a:srgbClr val="8e44a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Documentos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Calibri"/>
              </a:rPr>
              <a:t>PDF, TXT...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7"/>
          <p:cNvSpPr/>
          <p:nvPr/>
        </p:nvSpPr>
        <p:spPr>
          <a:xfrm>
            <a:off x="2926080" y="17830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→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Rounded Rectangle 8"/>
          <p:cNvSpPr/>
          <p:nvPr/>
        </p:nvSpPr>
        <p:spPr>
          <a:xfrm>
            <a:off x="3383280" y="1645920"/>
            <a:ext cx="2377080" cy="776880"/>
          </a:xfrm>
          <a:prstGeom prst="roundRect">
            <a:avLst>
              <a:gd name="adj" fmla="val 16667"/>
            </a:avLst>
          </a:prstGeom>
          <a:solidFill>
            <a:srgbClr val="8e44a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Fragmentos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Calibri"/>
              </a:rPr>
              <a:t>Text Splitter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9"/>
          <p:cNvSpPr/>
          <p:nvPr/>
        </p:nvSpPr>
        <p:spPr>
          <a:xfrm>
            <a:off x="5760720" y="17830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→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ounded Rectangle 10"/>
          <p:cNvSpPr/>
          <p:nvPr/>
        </p:nvSpPr>
        <p:spPr>
          <a:xfrm>
            <a:off x="6217920" y="1645920"/>
            <a:ext cx="2377080" cy="77688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Embeddings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Calibri"/>
              </a:rPr>
              <a:t>nomic-embed-text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11"/>
          <p:cNvSpPr/>
          <p:nvPr/>
        </p:nvSpPr>
        <p:spPr>
          <a:xfrm>
            <a:off x="8595360" y="17830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→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ounded Rectangle 12"/>
          <p:cNvSpPr/>
          <p:nvPr/>
        </p:nvSpPr>
        <p:spPr>
          <a:xfrm>
            <a:off x="9052560" y="1645920"/>
            <a:ext cx="2377080" cy="776880"/>
          </a:xfrm>
          <a:prstGeom prst="roundRect">
            <a:avLst>
              <a:gd name="adj" fmla="val 16667"/>
            </a:avLst>
          </a:prstGeom>
          <a:solidFill>
            <a:srgbClr val="27ae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FAISS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Calibri"/>
              </a:rPr>
              <a:t>Base vectorial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13"/>
          <p:cNvSpPr/>
          <p:nvPr/>
        </p:nvSpPr>
        <p:spPr>
          <a:xfrm>
            <a:off x="548640" y="274320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Fase 2: Consulta (cada vez que preguntas)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Rounded Rectangle 14"/>
          <p:cNvSpPr/>
          <p:nvPr/>
        </p:nvSpPr>
        <p:spPr>
          <a:xfrm>
            <a:off x="548640" y="3200400"/>
            <a:ext cx="1919880" cy="77688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Pregunta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Calibri"/>
              </a:rPr>
              <a:t>Del usuario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5"/>
          <p:cNvSpPr/>
          <p:nvPr/>
        </p:nvSpPr>
        <p:spPr>
          <a:xfrm>
            <a:off x="2468880" y="333756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→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ounded Rectangle 16"/>
          <p:cNvSpPr/>
          <p:nvPr/>
        </p:nvSpPr>
        <p:spPr>
          <a:xfrm>
            <a:off x="2834640" y="3200400"/>
            <a:ext cx="1919880" cy="77688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Embedding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Calibri"/>
              </a:rPr>
              <a:t>Vectorizar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7"/>
          <p:cNvSpPr/>
          <p:nvPr/>
        </p:nvSpPr>
        <p:spPr>
          <a:xfrm>
            <a:off x="4754880" y="333756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→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ounded Rectangle 18"/>
          <p:cNvSpPr/>
          <p:nvPr/>
        </p:nvSpPr>
        <p:spPr>
          <a:xfrm>
            <a:off x="5120640" y="3200400"/>
            <a:ext cx="1919880" cy="776880"/>
          </a:xfrm>
          <a:prstGeom prst="roundRect">
            <a:avLst>
              <a:gd name="adj" fmla="val 16667"/>
            </a:avLst>
          </a:prstGeom>
          <a:solidFill>
            <a:srgbClr val="27ae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Busqueda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Calibri"/>
              </a:rPr>
              <a:t>Top-k similares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9"/>
          <p:cNvSpPr/>
          <p:nvPr/>
        </p:nvSpPr>
        <p:spPr>
          <a:xfrm>
            <a:off x="7040880" y="333756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→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ounded Rectangle 20"/>
          <p:cNvSpPr/>
          <p:nvPr/>
        </p:nvSpPr>
        <p:spPr>
          <a:xfrm>
            <a:off x="7406640" y="3200400"/>
            <a:ext cx="1919880" cy="77688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LLM + Contexto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Calibri"/>
              </a:rPr>
              <a:t>Genera respuesta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21"/>
          <p:cNvSpPr/>
          <p:nvPr/>
        </p:nvSpPr>
        <p:spPr>
          <a:xfrm>
            <a:off x="9326880" y="333756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→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Rounded Rectangle 22"/>
          <p:cNvSpPr/>
          <p:nvPr/>
        </p:nvSpPr>
        <p:spPr>
          <a:xfrm>
            <a:off x="9692640" y="3200400"/>
            <a:ext cx="1919880" cy="77688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Respuesta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Calibri"/>
              </a:rPr>
              <a:t>Con fuentes</a:t>
            </a:r>
            <a:endParaRPr lang="es-E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Rounded Rectangle 23"/>
          <p:cNvSpPr/>
          <p:nvPr/>
        </p:nvSpPr>
        <p:spPr>
          <a:xfrm>
            <a:off x="548640" y="4297680"/>
            <a:ext cx="10972440" cy="21027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TextBox 24"/>
          <p:cNvSpPr/>
          <p:nvPr/>
        </p:nvSpPr>
        <p:spPr>
          <a:xfrm>
            <a:off x="822960" y="443484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¿Que son los Embeddings?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25"/>
          <p:cNvSpPr/>
          <p:nvPr/>
        </p:nvSpPr>
        <p:spPr>
          <a:xfrm>
            <a:off x="822960" y="4800600"/>
            <a:ext cx="50288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Convierten texto en vectores numericos que capturan significado semantico.</a:t>
            </a:r>
            <a:br>
              <a:rPr sz="1200"/>
            </a:b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"El gato duerme en el sofa"</a:t>
            </a: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vs "El felino descansa en el mueble" → similitud: 0.92</a:t>
            </a:r>
            <a:br>
              <a:rPr sz="1200"/>
            </a:b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"El gato duerme en el sofa"</a:t>
            </a: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vs "Python es un lenguaje" → similitud: 0.23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Box 26"/>
          <p:cNvSpPr/>
          <p:nvPr/>
        </p:nvSpPr>
        <p:spPr>
          <a:xfrm>
            <a:off x="6217920" y="443484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La busqueda es por SIGNIFICADO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27"/>
          <p:cNvSpPr/>
          <p:nvPr/>
        </p:nvSpPr>
        <p:spPr>
          <a:xfrm>
            <a:off x="6217920" y="4800600"/>
            <a:ext cx="50288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No busca palabras exactas, busca conceptos.</a:t>
            </a:r>
            <a:br>
              <a:rPr sz="1200"/>
            </a:b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"desaparicion forzada" encontrara documentos</a:t>
            </a: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que hablen de "personas no localizadas"</a:t>
            </a: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o "victimas sin ubicar".</a:t>
            </a:r>
            <a:br>
              <a:rPr sz="1200"/>
            </a:b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Esto es mucho mas poderoso que Ctrl+F.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Rounded Rectangle 1"/>
          <p:cNvSpPr/>
          <p:nvPr/>
        </p:nvSpPr>
        <p:spPr>
          <a:xfrm>
            <a:off x="0" y="0"/>
            <a:ext cx="12191400" cy="100548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2"/>
          <p:cNvSpPr/>
          <p:nvPr/>
        </p:nvSpPr>
        <p:spPr>
          <a:xfrm>
            <a:off x="548640" y="13716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Agente Completo: todo integrado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3"/>
          <p:cNvSpPr/>
          <p:nvPr/>
        </p:nvSpPr>
        <p:spPr>
          <a:xfrm>
            <a:off x="548640" y="548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bbccdd"/>
                </a:solidFill>
                <a:effectLst/>
                <a:uFillTx/>
                <a:latin typeface="Calibri"/>
              </a:rPr>
              <a:t>Modelo + Herramientas + RAG + Memoria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4"/>
          <p:cNvSpPr/>
          <p:nvPr/>
        </p:nvSpPr>
        <p:spPr>
          <a:xfrm>
            <a:off x="10789920" y="64008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99aa"/>
                </a:solidFill>
                <a:effectLst/>
                <a:uFillTx/>
                <a:latin typeface="Calibri"/>
              </a:rPr>
              <a:t>10 / 12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Rounded Rectangle 5"/>
          <p:cNvSpPr/>
          <p:nvPr/>
        </p:nvSpPr>
        <p:spPr>
          <a:xfrm>
            <a:off x="548640" y="1280160"/>
            <a:ext cx="2559960" cy="109692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  <a:spcBef>
                <a:spcPts val="1001"/>
              </a:spcBef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Usuario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6"/>
          <p:cNvSpPr/>
          <p:nvPr/>
        </p:nvSpPr>
        <p:spPr>
          <a:xfrm>
            <a:off x="3108960" y="155448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→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ounded Rectangle 7"/>
          <p:cNvSpPr/>
          <p:nvPr/>
        </p:nvSpPr>
        <p:spPr>
          <a:xfrm>
            <a:off x="3474720" y="1280160"/>
            <a:ext cx="2559960" cy="109692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  <a:spcBef>
                <a:spcPts val="1001"/>
              </a:spcBef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LLM Local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gemma3 via Ollama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8"/>
          <p:cNvSpPr/>
          <p:nvPr/>
        </p:nvSpPr>
        <p:spPr>
          <a:xfrm>
            <a:off x="6035040" y="155448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↔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Rounded Rectangle 9"/>
          <p:cNvSpPr/>
          <p:nvPr/>
        </p:nvSpPr>
        <p:spPr>
          <a:xfrm>
            <a:off x="6400800" y="1280160"/>
            <a:ext cx="2559960" cy="1096920"/>
          </a:xfrm>
          <a:prstGeom prst="roundRect">
            <a:avLst>
              <a:gd name="adj" fmla="val 16667"/>
            </a:avLst>
          </a:prstGeom>
          <a:solidFill>
            <a:srgbClr val="27ae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  <a:spcBef>
                <a:spcPts val="1001"/>
              </a:spcBef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Herramientas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calculadora, archivos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0"/>
          <p:cNvSpPr/>
          <p:nvPr/>
        </p:nvSpPr>
        <p:spPr>
          <a:xfrm>
            <a:off x="8961120" y="155448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7f8c8d"/>
                </a:solidFill>
                <a:effectLst/>
                <a:uFillTx/>
                <a:latin typeface="Calibri"/>
              </a:rPr>
              <a:t>↔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Rounded Rectangle 11"/>
          <p:cNvSpPr/>
          <p:nvPr/>
        </p:nvSpPr>
        <p:spPr>
          <a:xfrm>
            <a:off x="9326880" y="1280160"/>
            <a:ext cx="2559960" cy="1096920"/>
          </a:xfrm>
          <a:prstGeom prst="roundRect">
            <a:avLst>
              <a:gd name="adj" fmla="val 16667"/>
            </a:avLst>
          </a:prstGeom>
          <a:solidFill>
            <a:srgbClr val="8e44a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  <a:spcBef>
                <a:spcPts val="1001"/>
              </a:spcBef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RAG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FAISS + embeddings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Rounded Rectangle 12"/>
          <p:cNvSpPr/>
          <p:nvPr/>
        </p:nvSpPr>
        <p:spPr>
          <a:xfrm>
            <a:off x="548640" y="2743200"/>
            <a:ext cx="3474360" cy="13712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e67e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TextBox 13"/>
          <p:cNvSpPr/>
          <p:nvPr/>
        </p:nvSpPr>
        <p:spPr>
          <a:xfrm>
            <a:off x="731520" y="283464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Cerebro (LLM)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14"/>
          <p:cNvSpPr/>
          <p:nvPr/>
        </p:nvSpPr>
        <p:spPr>
          <a:xfrm>
            <a:off x="731520" y="3246120"/>
            <a:ext cx="3108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gemma3:12b o gemma3:27b via Ollama.</a:t>
            </a: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Razona y decide que hacer.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ounded Rectangle 15"/>
          <p:cNvSpPr/>
          <p:nvPr/>
        </p:nvSpPr>
        <p:spPr>
          <a:xfrm>
            <a:off x="4389120" y="2743200"/>
            <a:ext cx="3474360" cy="13712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27ae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16"/>
          <p:cNvSpPr/>
          <p:nvPr/>
        </p:nvSpPr>
        <p:spPr>
          <a:xfrm>
            <a:off x="4572000" y="283464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27ae60"/>
                </a:solidFill>
                <a:effectLst/>
                <a:uFillTx/>
                <a:latin typeface="Calibri"/>
              </a:rPr>
              <a:t>Herramientas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17"/>
          <p:cNvSpPr/>
          <p:nvPr/>
        </p:nvSpPr>
        <p:spPr>
          <a:xfrm>
            <a:off x="4572000" y="3246120"/>
            <a:ext cx="3108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Funciones Python que el agente</a:t>
            </a: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invoca: calculos, fechas, archivos.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ounded Rectangle 18"/>
          <p:cNvSpPr/>
          <p:nvPr/>
        </p:nvSpPr>
        <p:spPr>
          <a:xfrm>
            <a:off x="8229600" y="2743200"/>
            <a:ext cx="3474360" cy="13712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8e44a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19"/>
          <p:cNvSpPr/>
          <p:nvPr/>
        </p:nvSpPr>
        <p:spPr>
          <a:xfrm>
            <a:off x="8412480" y="283464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8e44ad"/>
                </a:solidFill>
                <a:effectLst/>
                <a:uFillTx/>
                <a:latin typeface="Calibri"/>
              </a:rPr>
              <a:t>RAG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20"/>
          <p:cNvSpPr/>
          <p:nvPr/>
        </p:nvSpPr>
        <p:spPr>
          <a:xfrm>
            <a:off x="8412480" y="3246120"/>
            <a:ext cx="3108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La busqueda en documentos es otra</a:t>
            </a:r>
            <a:br>
              <a:rPr sz="1200"/>
            </a:b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herramienta que el agente elige usar.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21"/>
          <p:cNvSpPr/>
          <p:nvPr/>
        </p:nvSpPr>
        <p:spPr>
          <a:xfrm>
            <a:off x="548640" y="438912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Memoria conversacional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Rounded Rectangle 22"/>
          <p:cNvSpPr/>
          <p:nvPr/>
        </p:nvSpPr>
        <p:spPr>
          <a:xfrm>
            <a:off x="548640" y="4754880"/>
            <a:ext cx="10972440" cy="164556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TextBox 23"/>
          <p:cNvSpPr/>
          <p:nvPr/>
        </p:nvSpPr>
        <p:spPr>
          <a:xfrm>
            <a:off x="822960" y="4892040"/>
            <a:ext cx="10515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from langgraph.checkpoint.memory import MemorySaver</a:t>
            </a:r>
            <a:br>
              <a:rPr sz="1300"/>
            </a:b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agente = create_react_agent(</a:t>
            </a: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model=ChatOllama(model="gemma3:12b"),</a:t>
            </a: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tools=[buscar_documentos, calculadora, fecha_hora],</a:t>
            </a: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prompt="Eres un asistente investigador...",</a:t>
            </a: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  checkpointer=MemorySaver(),     # Recuerda la conversacion</a:t>
            </a:r>
            <a:br>
              <a:rPr sz="1300"/>
            </a:br>
            <a:r>
              <a:rPr lang="en-US" sz="13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)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Rounded Rectangle 1"/>
          <p:cNvSpPr/>
          <p:nvPr/>
        </p:nvSpPr>
        <p:spPr>
          <a:xfrm>
            <a:off x="0" y="0"/>
            <a:ext cx="12191400" cy="100548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2"/>
          <p:cNvSpPr/>
          <p:nvPr/>
        </p:nvSpPr>
        <p:spPr>
          <a:xfrm>
            <a:off x="548640" y="13716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Proximos pasos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3"/>
          <p:cNvSpPr/>
          <p:nvPr/>
        </p:nvSpPr>
        <p:spPr>
          <a:xfrm>
            <a:off x="548640" y="548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bbccdd"/>
                </a:solidFill>
                <a:effectLst/>
                <a:uFillTx/>
                <a:latin typeface="Calibri"/>
              </a:rPr>
              <a:t>A donde ir desde aqui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4"/>
          <p:cNvSpPr/>
          <p:nvPr/>
        </p:nvSpPr>
        <p:spPr>
          <a:xfrm>
            <a:off x="10789920" y="64008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99aa"/>
                </a:solidFill>
                <a:effectLst/>
                <a:uFillTx/>
                <a:latin typeface="Calibri"/>
              </a:rPr>
              <a:t>11 / 12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Rounded Rectangle 5"/>
          <p:cNvSpPr/>
          <p:nvPr/>
        </p:nvSpPr>
        <p:spPr>
          <a:xfrm>
            <a:off x="548640" y="1280160"/>
            <a:ext cx="3474360" cy="21942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6"/>
          <p:cNvSpPr/>
          <p:nvPr/>
        </p:nvSpPr>
        <p:spPr>
          <a:xfrm>
            <a:off x="731520" y="146304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Mas herramientas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7"/>
          <p:cNvSpPr/>
          <p:nvPr/>
        </p:nvSpPr>
        <p:spPr>
          <a:xfrm>
            <a:off x="731520" y="1920240"/>
            <a:ext cx="3108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Conecta bases de datos SQL,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APIs REST, web scraping,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envio de correos.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ounded Rectangle 8"/>
          <p:cNvSpPr/>
          <p:nvPr/>
        </p:nvSpPr>
        <p:spPr>
          <a:xfrm>
            <a:off x="4389120" y="1280160"/>
            <a:ext cx="3474360" cy="21942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TextBox 9"/>
          <p:cNvSpPr/>
          <p:nvPr/>
        </p:nvSpPr>
        <p:spPr>
          <a:xfrm>
            <a:off x="4572000" y="146304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Interfaz web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0"/>
          <p:cNvSpPr/>
          <p:nvPr/>
        </p:nvSpPr>
        <p:spPr>
          <a:xfrm>
            <a:off x="4572000" y="1920240"/>
            <a:ext cx="3108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Monta tu agente con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Streamlit o Gradio para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que otros lo usen sin codigo.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Rounded Rectangle 11"/>
          <p:cNvSpPr/>
          <p:nvPr/>
        </p:nvSpPr>
        <p:spPr>
          <a:xfrm>
            <a:off x="8229600" y="1280160"/>
            <a:ext cx="3474360" cy="21942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Box 12"/>
          <p:cNvSpPr/>
          <p:nvPr/>
        </p:nvSpPr>
        <p:spPr>
          <a:xfrm>
            <a:off x="8412480" y="146304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Persistencia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13"/>
          <p:cNvSpPr/>
          <p:nvPr/>
        </p:nvSpPr>
        <p:spPr>
          <a:xfrm>
            <a:off x="8412480" y="1920240"/>
            <a:ext cx="3108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Guarda la base vectorial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en disco para no recalcular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embeddings cada vez.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Rounded Rectangle 14"/>
          <p:cNvSpPr/>
          <p:nvPr/>
        </p:nvSpPr>
        <p:spPr>
          <a:xfrm>
            <a:off x="548640" y="3840480"/>
            <a:ext cx="3474360" cy="21942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Box 15"/>
          <p:cNvSpPr/>
          <p:nvPr/>
        </p:nvSpPr>
        <p:spPr>
          <a:xfrm>
            <a:off x="731520" y="402336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Multi-agente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16"/>
          <p:cNvSpPr/>
          <p:nvPr/>
        </p:nvSpPr>
        <p:spPr>
          <a:xfrm>
            <a:off x="731520" y="4480560"/>
            <a:ext cx="3108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Con LangGraph crea flujos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donde varios agentes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colaboran en una tarea.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Rounded Rectangle 17"/>
          <p:cNvSpPr/>
          <p:nvPr/>
        </p:nvSpPr>
        <p:spPr>
          <a:xfrm>
            <a:off x="4389120" y="3840480"/>
            <a:ext cx="3474360" cy="21942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Box 18"/>
          <p:cNvSpPr/>
          <p:nvPr/>
        </p:nvSpPr>
        <p:spPr>
          <a:xfrm>
            <a:off x="4572000" y="402336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Evaluacion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19"/>
          <p:cNvSpPr/>
          <p:nvPr/>
        </p:nvSpPr>
        <p:spPr>
          <a:xfrm>
            <a:off x="4572000" y="4480560"/>
            <a:ext cx="3108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Mide la calidad de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respuestas RAG con metricas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como faithfulness.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Rounded Rectangle 20"/>
          <p:cNvSpPr/>
          <p:nvPr/>
        </p:nvSpPr>
        <p:spPr>
          <a:xfrm>
            <a:off x="8229600" y="3840480"/>
            <a:ext cx="3474360" cy="21942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25400">
            <a:solidFill>
              <a:srgbClr val="1a3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Box 21"/>
          <p:cNvSpPr/>
          <p:nvPr/>
        </p:nvSpPr>
        <p:spPr>
          <a:xfrm>
            <a:off x="8412480" y="402336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Fine-tuning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2"/>
          <p:cNvSpPr/>
          <p:nvPr/>
        </p:nvSpPr>
        <p:spPr>
          <a:xfrm>
            <a:off x="8412480" y="4480560"/>
            <a:ext cx="3108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Entrena modelos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especializados en tu dominio</a:t>
            </a:r>
            <a:br>
              <a:rPr sz="1300"/>
            </a:br>
            <a:r>
              <a:rPr lang="en-US" sz="13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con datos propios.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ounded Rectangle 1"/>
          <p:cNvSpPr/>
          <p:nvPr/>
        </p:nvSpPr>
        <p:spPr>
          <a:xfrm>
            <a:off x="0" y="0"/>
            <a:ext cx="12191400" cy="1005480"/>
          </a:xfrm>
          <a:prstGeom prst="roundRect">
            <a:avLst>
              <a:gd name="adj" fmla="val 16667"/>
            </a:avLst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"/>
          <p:cNvSpPr/>
          <p:nvPr/>
        </p:nvSpPr>
        <p:spPr>
          <a:xfrm>
            <a:off x="548640" y="13716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Recursos y Contacto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3"/>
          <p:cNvSpPr/>
          <p:nvPr/>
        </p:nvSpPr>
        <p:spPr>
          <a:xfrm>
            <a:off x="548640" y="548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bbccdd"/>
                </a:solidFill>
                <a:effectLst/>
                <a:uFillTx/>
                <a:latin typeface="Calibri"/>
              </a:rPr>
              <a:t>Todo lo que necesitas para seguir aprendiendo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4"/>
          <p:cNvSpPr/>
          <p:nvPr/>
        </p:nvSpPr>
        <p:spPr>
          <a:xfrm>
            <a:off x="10789920" y="64008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99aa"/>
                </a:solidFill>
                <a:effectLst/>
                <a:uFillTx/>
                <a:latin typeface="Calibri"/>
              </a:rPr>
              <a:t>12 / 12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5"/>
          <p:cNvSpPr/>
          <p:nvPr/>
        </p:nvSpPr>
        <p:spPr>
          <a:xfrm>
            <a:off x="548640" y="128016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Documentacion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5" name="Table 6"/>
          <p:cNvGraphicFramePr/>
          <p:nvPr/>
        </p:nvGraphicFramePr>
        <p:xfrm>
          <a:off x="548640" y="1737360"/>
          <a:ext cx="5028840" cy="255996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</a:tblGrid>
              <a:tr h="426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Recurso</a:t>
                      </a:r>
                      <a:endParaRPr lang="es-E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URL</a:t>
                      </a:r>
                      <a:endParaRPr lang="es-E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426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Ollama</a:t>
                      </a:r>
                      <a:endParaRPr lang="es-E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ollama.com</a:t>
                      </a:r>
                      <a:endParaRPr lang="es-E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426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LangChain</a:t>
                      </a:r>
                      <a:endParaRPr lang="es-E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python.langchain.com</a:t>
                      </a:r>
                      <a:endParaRPr lang="es-E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426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LangGraph</a:t>
                      </a:r>
                      <a:endParaRPr lang="es-E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langchain-ai.github.io/langgraph</a:t>
                      </a:r>
                      <a:endParaRPr lang="es-E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426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FAISS</a:t>
                      </a:r>
                      <a:endParaRPr lang="es-E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github.com/facebookresearch/faiss</a:t>
                      </a:r>
                      <a:endParaRPr lang="es-E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4266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Modelos Ollama</a:t>
                      </a:r>
                      <a:endParaRPr lang="es-E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ollama.com/library</a:t>
                      </a:r>
                      <a:endParaRPr lang="es-E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  <p:sp>
        <p:nvSpPr>
          <p:cNvPr id="276" name="TextBox 7"/>
          <p:cNvSpPr/>
          <p:nvPr/>
        </p:nvSpPr>
        <p:spPr>
          <a:xfrm>
            <a:off x="6217920" y="128016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a3a5c"/>
                </a:solidFill>
                <a:effectLst/>
                <a:uFillTx/>
                <a:latin typeface="Calibri"/>
              </a:rPr>
              <a:t>Repositorio del taller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Rounded Rectangle 8"/>
          <p:cNvSpPr/>
          <p:nvPr/>
        </p:nvSpPr>
        <p:spPr>
          <a:xfrm>
            <a:off x="6217920" y="1737360"/>
            <a:ext cx="5028840" cy="255996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8" name="TextBox 9"/>
          <p:cNvSpPr/>
          <p:nvPr/>
        </p:nvSpPr>
        <p:spPr>
          <a:xfrm>
            <a:off x="6400800" y="1874520"/>
            <a:ext cx="475452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# Clonar el repositorio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git clone https://github.com/...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  capacitacion-agentes-locales</a:t>
            </a:r>
            <a:br>
              <a:rPr sz="1200"/>
            </a:b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# Instalar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python -m venv .venv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source .venv/bin/activate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pip install -r requirements.txt</a:t>
            </a:r>
            <a:br>
              <a:rPr sz="1200"/>
            </a:b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# Modelos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ollama pull gemma3:12b</a:t>
            </a:r>
            <a:br>
              <a:rPr sz="1200"/>
            </a:br>
            <a:r>
              <a:rPr lang="en-US" sz="1200" b="0" u="none" strike="noStrike">
                <a:solidFill>
                  <a:srgbClr val="d4d4d4"/>
                </a:solidFill>
                <a:effectLst/>
                <a:uFillTx/>
                <a:latin typeface="Consolas"/>
              </a:rPr>
              <a:t>ollama pull nomic-embed-text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Rounded Rectangle 10"/>
          <p:cNvSpPr/>
          <p:nvPr/>
        </p:nvSpPr>
        <p:spPr>
          <a:xfrm>
            <a:off x="548640" y="4754880"/>
            <a:ext cx="10972440" cy="1371240"/>
          </a:xfrm>
          <a:prstGeom prst="roundRect">
            <a:avLst>
              <a:gd name="adj" fmla="val 16667"/>
            </a:avLst>
          </a:prstGeom>
          <a:solidFill>
            <a:srgbClr val="fff8e1"/>
          </a:solidFill>
          <a:ln w="25400">
            <a:solidFill>
              <a:srgbClr val="e67e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Box 11"/>
          <p:cNvSpPr/>
          <p:nvPr/>
        </p:nvSpPr>
        <p:spPr>
          <a:xfrm>
            <a:off x="822960" y="4892040"/>
            <a:ext cx="10515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Modelo local + LangChain + Herramientas propias = Un agente que trabaja para ti, con tus datos, en tu maquina.</a:t>
            </a:r>
            <a:br>
              <a:rPr sz="1600"/>
            </a:br>
            <a:br>
              <a:rPr sz="1600"/>
            </a:br>
            <a:r>
              <a:rPr lang="en-US" sz="1600" b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Experimentar es la mejor forma de aprender.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LibreOffice/25.8.5.2$Linux_X86_64 LibreOffice_project/580$Build-2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es-ES</dc:language>
  <cp:lastModifiedBy>Carlos Isaac Zainea Maya</cp:lastModifiedBy>
  <dcterms:modified xsi:type="dcterms:W3CDTF">2026-03-26T09:41:50Z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