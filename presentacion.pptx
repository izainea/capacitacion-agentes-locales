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Agentes Locales con</a:t>
            </a:r>
            <a:br/>
            <a:r>
              <a:t>Ollama y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Calibri"/>
              </a:defRPr>
            </a:pPr>
            <a:r>
              <a:t>Taller practico: construye agentes de IA que corren 100% en tu maquina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3840480"/>
            <a:ext cx="210312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38679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Taller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Calibri"/>
              </a:defRPr>
            </a:pPr>
            <a:r>
              <a:t>UBPD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¿Por que modelos locales?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Privacidad, costo 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3200400"/>
          </a:xfrm>
          <a:prstGeom prst="roundRect">
            <a:avLst/>
          </a:prstGeom>
          <a:solidFill>
            <a:srgbClr val="FE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APIs en la Nube (ChatGPT, Claude...)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Los datos viajan a servidores externos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Costo por cada token procesado ($$$)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Requiere conexion a internet permanente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Sujeto a politicas de uso de terceros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Latencia variable segun el servidor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3200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Modelos Locales (Ollama)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Los datos NUNCA salen de tu maquina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Gratis: sin costos recurrentes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Funciona completamente offline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Control total sobre modelo y parametros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Latencia consistente y predecible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10972800" cy="10972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Caso de uso clave: Cuando trabajamos con datos sensibles — entrevistas, testimonios, datos personales — los modelos locales garantizan que la informacion no sale de nuestro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 del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5 modulos progresivos — ~4 horas con pausas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01168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Hola 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26080"/>
            <a:ext cx="914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44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Conexion basica</a:t>
            </a:r>
            <a:br/>
            <a:r>
              <a:t>a Ollama desde 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371600"/>
            <a:ext cx="201168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LangChain</a:t>
            </a:r>
            <a:br/>
            <a:r>
              <a:t>Basico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926080"/>
            <a:ext cx="914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944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Chains, prompts</a:t>
            </a:r>
            <a:br/>
            <a:r>
              <a:t>y salida estructurada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371600"/>
            <a:ext cx="201168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Herramientas</a:t>
            </a:r>
            <a:br/>
            <a:r>
              <a:t>y Agentes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926080"/>
            <a:ext cx="914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944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Crear tools propias</a:t>
            </a:r>
            <a:br/>
            <a:r>
              <a:t>y agentes ReAct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371600"/>
            <a:ext cx="201168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RAG 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2926080"/>
            <a:ext cx="914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2944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Busqueda semantica</a:t>
            </a:r>
            <a:br/>
            <a:r>
              <a:t>en documentos locales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371600"/>
            <a:ext cx="201168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5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Agente</a:t>
            </a:r>
            <a:br/>
            <a:r>
              <a:t>Completo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2926080"/>
            <a:ext cx="914400" cy="3200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29443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4747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Todo integrado:</a:t>
            </a:r>
            <a:br/>
            <a:r>
              <a:t>RAG + tools + memoria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Cada modulo: teoria breve en slides + practica en Jupyter Notebook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¿Que es Ollama?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Tu servidor local de modelos de lenguaje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16459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A5C"/>
                </a:solidFill>
                <a:latin typeface="Calibri"/>
              </a:defRPr>
            </a:pPr>
            <a:r>
              <a:t>Descarga modelos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Un solo comando:</a:t>
            </a:r>
            <a:br/>
            <a:r>
              <a:t>ollama pull gemma3:12b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74720" cy="16459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A5C"/>
                </a:solidFill>
                <a:latin typeface="Calibri"/>
              </a:defRPr>
            </a:pPr>
            <a:r>
              <a:t>Servidor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Corre en localhost:11434</a:t>
            </a:r>
            <a:br/>
            <a:r>
              <a:t>Cualquier programa se conecta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16459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A5C"/>
                </a:solidFill>
                <a:latin typeface="Calibri"/>
              </a:defRPr>
            </a:pPr>
            <a:r>
              <a:t>Multiples modelos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74519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Cambia entre modelos</a:t>
            </a:r>
            <a:br/>
            <a:r>
              <a:t>segun la tarea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Modelos que usaremos en el taller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65760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3840480"/>
                <a:gridCol w="32004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Tamano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Comando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gemma3:27b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~17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Modelo principal (razonamiento complejo)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ollama pull gemma3:27b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gemma3:12b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~8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Alternativa mas rapida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ollama pull gemma3:12b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nomic-embed-text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~275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Embeddings para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ollama pull nomic-embed-text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¿Que es LangChain?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El framework para construir aplicaciones con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2011680"/>
          </a:xfrm>
          <a:prstGeom prst="roundRect">
            <a:avLst/>
          </a:prstGeom>
          <a:solidFill>
            <a:srgbClr val="FEF9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Prompt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Plantillas reutilizables</a:t>
            </a:r>
            <a:br/>
            <a:r>
              <a:t>con variables.</a:t>
            </a:r>
            <a:br/>
            <a:r>
              <a:t>No mas concatenar strings.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74720" cy="2011680"/>
          </a:xfrm>
          <a:prstGeom prst="roundRect">
            <a:avLst/>
          </a:prstGeom>
          <a:solidFill>
            <a:srgbClr val="FEF9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Chains (LCEL)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Encadena operaciones</a:t>
            </a:r>
            <a:br/>
            <a:r>
              <a:t>con el operador |</a:t>
            </a:r>
            <a:br/>
            <a:r>
              <a:t>prompt | modelo | parser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2011680"/>
          </a:xfrm>
          <a:prstGeom prst="roundRect">
            <a:avLst/>
          </a:prstGeom>
          <a:solidFill>
            <a:srgbClr val="FEF9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Salida Estructurada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Fuerza al modelo a devolver</a:t>
            </a:r>
            <a:br/>
            <a:r>
              <a:t>JSON valido con esquemas</a:t>
            </a:r>
            <a:br/>
            <a:r>
              <a:t>Pydantic.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10972800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Consolas"/>
              </a:defRPr>
            </a:pPr>
            <a:r>
              <a:t>from langchain_ollama import ChatOllama</a:t>
            </a:r>
            <a:br/>
            <a:r>
              <a:t>from langchain_core.prompts import ChatPromptTemplate</a:t>
            </a:r>
            <a:br/>
            <a:r>
              <a:t>from langchain_core.output_parsers import StrOutputParser</a:t>
            </a:r>
            <a:br/>
            <a:br/>
            <a:r>
              <a:t>llm = ChatOllama(model="gemma3:12b", temperature=0)</a:t>
            </a:r>
            <a:br/>
            <a:br/>
            <a:r>
              <a:t>prompt = ChatPromptTemplate.from_messages([</a:t>
            </a:r>
            <a:br/>
            <a:r>
              <a:t>    ("system", "Eres un experto en {tema}."),</a:t>
            </a:r>
            <a:br/>
            <a:r>
              <a:t>    ("human", "{pregunta}"),</a:t>
            </a:r>
            <a:br/>
            <a:r>
              <a:t>])</a:t>
            </a:r>
            <a:br/>
            <a:br/>
            <a:r>
              <a:t>chain = prompt | llm | StrOutputParser()     # prompt → modelo → texto</a:t>
            </a:r>
            <a:br/>
            <a:r>
              <a:t>resultado = chain.invoke({"tema": "historia", "pregunta": "..."})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¿Que es un Agente de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Un LLM que razona, decide y actua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2560320"/>
          </a:xfrm>
          <a:prstGeom prst="roundRect">
            <a:avLst/>
          </a:prstGeom>
          <a:solidFill>
            <a:srgbClr val="FE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Chatbot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Pregunta → Respuesta (un solo paso)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Solo usa lo que sabe del entrenamiento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No puede acceder a datos externos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No puede ejecutar acciones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03520" cy="2560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Pregunta → Razona → Actua → Observa → Repite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Usa herramientas para obtener info actual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Busca en documentos, bases de datos, APIs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Hace calculos, lee archivos, genera reportes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Ciclo ReAct (Reason + Act)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92024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Usuario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Pregunta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4572000"/>
            <a:ext cx="192024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LLM Razona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"Necesito usar X"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4572000"/>
            <a:ext cx="192024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Herramienta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Ejecuta accion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4572000"/>
            <a:ext cx="192024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LLM Evalua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"Suficiente?"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709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572000"/>
            <a:ext cx="192024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Respuesta</a:t>
            </a:r>
          </a:p>
          <a:p>
            <a:pPr algn="ctr">
              <a:defRPr sz="1000">
                <a:solidFill>
                  <a:srgbClr val="DDDDDD"/>
                </a:solidFill>
              </a:defRPr>
            </a:pPr>
            <a:r>
              <a:t>Al usuario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El LLM NO ejecuta codigo directamente. DECIDE que herramienta usar y con que parametros. El sistema ejecuta la herramienta y le devuelve el resultado.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Herramientas: las manos del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Funciones Python que el agente puede invocar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34747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from langchain_core.tools import tool</a:t>
            </a:r>
            <a:br/>
            <a:r>
              <a:t>import math</a:t>
            </a:r>
            <a:br/>
            <a:br/>
            <a:r>
              <a:t>@tool</a:t>
            </a:r>
            <a:br/>
            <a:r>
              <a:t>def calculadora(expresion: str) -&gt; str:</a:t>
            </a:r>
            <a:br/>
            <a:r>
              <a:t>    """Evalua una expresion matematica.</a:t>
            </a:r>
            <a:br/>
            <a:r>
              <a:t>    Usala para hacer calculos."""</a:t>
            </a:r>
            <a:br/>
            <a:r>
              <a:t>    resultado = eval(expresion,</a:t>
            </a:r>
            <a:br/>
            <a:r>
              <a:t>        {"math": math})</a:t>
            </a:r>
            <a:br/>
            <a:r>
              <a:t>    return f"Resultado: {resultado}"</a:t>
            </a:r>
            <a:br/>
            <a:br/>
            <a:r>
              <a:t>@tool</a:t>
            </a:r>
            <a:br/>
            <a:r>
              <a:t>def fecha_actual() -&gt; str:</a:t>
            </a:r>
            <a:br/>
            <a:r>
              <a:t>    """Devuelve la fecha y hora actual.</a:t>
            </a:r>
            <a:br/>
            <a:r>
              <a:t>    Usala cuando pregunten la fecha."""</a:t>
            </a:r>
            <a:br/>
            <a:r>
              <a:t>    import datetime</a:t>
            </a:r>
            <a:br/>
            <a:r>
              <a:t>    return str(datetime.datetime.now())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El docstring es CLAVE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470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828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  <a:latin typeface="Calibri"/>
              </a:defRPr>
            </a:pPr>
            <a:r>
              <a:t>1. Nombre de la funcion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03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Le dice al modelo como llamarla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51460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328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514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  <a:latin typeface="Calibri"/>
              </a:defRPr>
            </a:pPr>
            <a:r>
              <a:t>2. Docstring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88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Le dice al modelo CUANDO usarla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20040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18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00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  <a:latin typeface="Calibri"/>
              </a:defRPr>
            </a:pPr>
            <a:r>
              <a:t>3. Parametros tipados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74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Le dice que argumentos enviar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886200"/>
            <a:ext cx="3657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044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886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5C"/>
                </a:solidFill>
                <a:latin typeface="Calibri"/>
              </a:defRPr>
            </a:pPr>
            <a:r>
              <a:t>4. Retorno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60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El agente lee el resultado como texto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5C"/>
                </a:solidFill>
                <a:latin typeface="Calibri"/>
              </a:defRPr>
            </a:pPr>
            <a:r>
              <a:t>Ejemplos de herramientas utiles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53949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2560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Herramienta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 hace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Ejemplo de uso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calculadora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Evalua expresiones matematicas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"¿Cuanto es 1500 * 3.5 / 60?"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fecha_actual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Devuelve fecha/hora del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"¿Que dia es hoy?"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leer_archivo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Lee contenido de archivos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"¿Que dice config.txt?"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buscar_docs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Busca en base vectorial (RAG)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"¿Que sabemos sobre X?"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Construir un 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5 lineas de codigo con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0972800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  <a:latin typeface="Consolas"/>
              </a:defRPr>
            </a:pPr>
            <a:r>
              <a:t>from langgraph.prebuilt import create_react_agent</a:t>
            </a:r>
            <a:br/>
            <a:r>
              <a:t>from langchain_ollama import ChatOllama</a:t>
            </a:r>
            <a:br/>
            <a:br/>
            <a:r>
              <a:t># 1. Modelo local</a:t>
            </a:r>
            <a:br/>
            <a:r>
              <a:t>llm = ChatOllama(model="gemma3:12b", temperature=0)</a:t>
            </a:r>
            <a:br/>
            <a:br/>
            <a:r>
              <a:t># 2. Herramientas</a:t>
            </a:r>
            <a:br/>
            <a:r>
              <a:t>herramientas = [calculadora, fecha_actual, buscar_documentos]</a:t>
            </a:r>
            <a:br/>
            <a:br/>
            <a:r>
              <a:t># 3. Crear agente</a:t>
            </a:r>
            <a:br/>
            <a:r>
              <a:t>agente = create_react_agent(</a:t>
            </a:r>
            <a:br/>
            <a:r>
              <a:t>    model=llm,</a:t>
            </a:r>
            <a:br/>
            <a:r>
              <a:t>    tools=herramientas,</a:t>
            </a:r>
            <a:br/>
            <a:r>
              <a:t>    prompt="Eres un asistente investigador. Responde en espanol.",</a:t>
            </a:r>
            <a:br/>
            <a:r>
              <a:t>)</a:t>
            </a:r>
            <a:br/>
            <a:br/>
            <a:r>
              <a:t># 4. Usar el agente</a:t>
            </a:r>
            <a:br/>
            <a:r>
              <a:t>resultado = agente.invoke({"messages": [("human", "¿Cuanto es 200 * 45?")]})</a:t>
            </a:r>
            <a:br/>
            <a:r>
              <a:t>print(resultado["messages"][-1].content)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12080"/>
            <a:ext cx="10972800" cy="10972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create_react_agent crea el loop completo: el LLM decide si usar una herramienta, el sistema la ejecuta, el LLM evalua el resultado, y repite hasta poder responder.</a:t>
            </a:r>
            <a:br/>
            <a:br/>
            <a:r>
              <a:t>El agente funciona con CUALQUIER modelo de Ollama: gemma3, llama, mistral, qwen...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RAG: preguntar sobre tus documentos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Retrieval 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5C"/>
                </a:solidFill>
                <a:latin typeface="Calibri"/>
              </a:defRPr>
            </a:pPr>
            <a:r>
              <a:t>Fase 1: Indexacion (se hace una vez)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37744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Documentos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PDF, TXT...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37744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Fragmentos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Text Splitter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37744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Embeddings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nomic-embed-text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45920"/>
            <a:ext cx="237744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FAISS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Base vectorial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5C"/>
                </a:solidFill>
                <a:latin typeface="Calibri"/>
              </a:defRPr>
            </a:pPr>
            <a:r>
              <a:t>Fase 2: Consulta (cada vez que preguntas)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1920240" cy="7772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Pregunta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Del usuario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200400"/>
            <a:ext cx="192024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Embedding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Vectorizar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200400"/>
            <a:ext cx="192024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Busqueda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Top-k similares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200400"/>
            <a:ext cx="192024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 + Contexto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Genera respuesta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200400"/>
            <a:ext cx="1920240" cy="7772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Respuesta</a:t>
            </a:r>
          </a:p>
          <a:p>
            <a:pPr algn="ctr">
              <a:defRPr sz="1000">
                <a:solidFill>
                  <a:srgbClr val="EEEEEE"/>
                </a:solidFill>
              </a:defRPr>
            </a:pPr>
            <a:r>
              <a:t>Con fuentes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97680"/>
            <a:ext cx="10972800" cy="2103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5C"/>
                </a:solidFill>
                <a:latin typeface="Calibri"/>
              </a:defRPr>
            </a:pPr>
            <a:r>
              <a:t>¿Que son los Embeddings?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Convierten texto en vectores numericos que capturan significado semantico.</a:t>
            </a:r>
            <a:br/>
            <a:br/>
            <a:r>
              <a:t>"El gato duerme en el sofa"</a:t>
            </a:r>
            <a:br/>
            <a:r>
              <a:t>vs "El felino descansa en el mueble" → similitud: 0.92</a:t>
            </a:r>
            <a:br/>
            <a:br/>
            <a:r>
              <a:t>"El gato duerme en el sofa"</a:t>
            </a:r>
            <a:br/>
            <a:r>
              <a:t>vs "Python es un lenguaje" → similitud: 0.23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La busqueda es por SIGNIFICADO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00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No busca palabras exactas, busca conceptos.</a:t>
            </a:r>
            <a:br/>
            <a:br/>
            <a:r>
              <a:t>"desaparicion forzada" encontrara documentos</a:t>
            </a:r>
            <a:br/>
            <a:r>
              <a:t>que hablen de "personas no localizadas"</a:t>
            </a:r>
            <a:br/>
            <a:r>
              <a:t>o "victimas sin ubicar".</a:t>
            </a:r>
            <a:br/>
            <a:br/>
            <a:r>
              <a:t>Esto es mucho mas poderoso que Ctrl+F.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Agente Completo: todo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Modelo + Herramientas + RAG + Memoria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560320" cy="10972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80160"/>
            <a:ext cx="256032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LLM Local</a:t>
            </a:r>
            <a:br/>
            <a:r>
              <a:t>gemma3 via Ollama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256032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Herramientas</a:t>
            </a:r>
            <a:br/>
            <a:r>
              <a:t>calculadora, archivos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554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280160"/>
            <a:ext cx="256032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RAG</a:t>
            </a:r>
            <a:br/>
            <a:r>
              <a:t>FAISS + embeddings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3474720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Cerebro (LLM)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gemma3:12b o gemma3:27b via Ollama.</a:t>
            </a:r>
            <a:br/>
            <a:r>
              <a:t>Razona y decide que hacer.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743200"/>
            <a:ext cx="3474720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Herramientas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46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Funciones Python que el agente</a:t>
            </a:r>
            <a:br/>
            <a:r>
              <a:t>invoca: calculos, fechas, archivos.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743200"/>
            <a:ext cx="3474720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46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La busqueda en documentos es otra</a:t>
            </a:r>
            <a:br/>
            <a:r>
              <a:t>herramienta que el agente elige usar.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5C"/>
                </a:solidFill>
                <a:latin typeface="Calibri"/>
              </a:defRPr>
            </a:pPr>
            <a:r>
              <a:t>Memoria conversacional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10972800" cy="16459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Consolas"/>
              </a:defRPr>
            </a:pPr>
            <a:r>
              <a:t>from langgraph.checkpoint.memory import MemorySaver</a:t>
            </a:r>
            <a:br/>
            <a:br/>
            <a:r>
              <a:t>agente = create_react_agent(</a:t>
            </a:r>
            <a:br/>
            <a:r>
              <a:t>    model=ChatOllama(model="gemma3:12b"),</a:t>
            </a:r>
            <a:br/>
            <a:r>
              <a:t>    tools=[buscar_documentos, calculadora, fecha_hora],</a:t>
            </a:r>
            <a:br/>
            <a:r>
              <a:t>    prompt="Eres un asistente investigador...",</a:t>
            </a:r>
            <a:br/>
            <a:r>
              <a:t>    checkpointer=MemorySaver(),     # Recuerda la conversacion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A donde ir desde aqui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Mas herramientas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Conecta bases de datos SQL,</a:t>
            </a:r>
            <a:br/>
            <a:r>
              <a:t>APIs REST, web scraping,</a:t>
            </a:r>
            <a:br/>
            <a:r>
              <a:t>envio de correos.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4747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Interfaz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Monta tu agente con</a:t>
            </a:r>
            <a:br/>
            <a:r>
              <a:t>Streamlit o Gradio para</a:t>
            </a:r>
            <a:br/>
            <a:r>
              <a:t>que otros lo usen sin codigo.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Persistencia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Guarda la base vectorial</a:t>
            </a:r>
            <a:br/>
            <a:r>
              <a:t>en disco para no recalcular</a:t>
            </a:r>
            <a:br/>
            <a:r>
              <a:t>embeddings cada vez.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79"/>
            <a:ext cx="34747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Multi-agente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5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Con LangGraph crea flujos</a:t>
            </a:r>
            <a:br/>
            <a:r>
              <a:t>donde varios agentes</a:t>
            </a:r>
            <a:br/>
            <a:r>
              <a:t>colaboran en una tarea.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40479"/>
            <a:ext cx="34747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Evaluacion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5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Mide la calidad de</a:t>
            </a:r>
            <a:br/>
            <a:r>
              <a:t>respuestas RAG con metricas</a:t>
            </a:r>
            <a:br/>
            <a:r>
              <a:t>como faithfulness.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840479"/>
            <a:ext cx="347472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Fine-tuning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48055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  <a:latin typeface="Calibri"/>
              </a:defRPr>
            </a:pPr>
            <a:r>
              <a:t>Entrena modelos</a:t>
            </a:r>
            <a:br/>
            <a:r>
              <a:t>especializados en tu dominio</a:t>
            </a:r>
            <a:br/>
            <a:r>
              <a:t>con datos propios.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Recursos y Contacto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Todo lo que necesitas para seguir aprendiendo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99AA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Documentacion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Recurso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ollama.com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python.langchain.com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langchain-ai.github.io/langgraph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github.com/facebookresearch/faiss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Modelos Ollama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ollama.com/library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5C"/>
                </a:solidFill>
                <a:latin typeface="Calibri"/>
              </a:defRPr>
            </a:pPr>
            <a:r>
              <a:t>Repositorio del taller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029200" cy="25603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# Clonar el repositorio</a:t>
            </a:r>
            <a:br/>
            <a:r>
              <a:t>git clone https://github.com/...</a:t>
            </a:r>
            <a:br/>
            <a:r>
              <a:t>  capacitacion-agentes-locales</a:t>
            </a:r>
            <a:br/>
            <a:br/>
            <a:r>
              <a:t># Instalar</a:t>
            </a:r>
            <a:br/>
            <a:r>
              <a:t>python -m venv .venv</a:t>
            </a:r>
            <a:br/>
            <a:r>
              <a:t>source .venv/bin/activate</a:t>
            </a:r>
            <a:br/>
            <a:r>
              <a:t>pip install -r requirements.txt</a:t>
            </a:r>
            <a:br/>
            <a:br/>
            <a:r>
              <a:t># Modelos</a:t>
            </a:r>
            <a:br/>
            <a:r>
              <a:t>ollama pull gemma3:12b</a:t>
            </a:r>
            <a:br/>
            <a:r>
              <a:t>ollama pull nomic-embed-text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0972800" cy="1371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Modelo local + LangChain + Herramientas propias = Un agente que trabaja para ti, con tus datos, en tu maquina.</a:t>
            </a:r>
            <a:br/>
            <a:br/>
            <a:r>
              <a:t>Experimentar es la mejor forma de aprender.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